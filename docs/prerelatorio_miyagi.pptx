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yagi_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749040" cy="3749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983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MIYAGI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2920" y="5715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Robô de tendência multi-ativo com alvo de risco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63440" y="5029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“Não prevê o golpe. Observa o movimento — e responde com técnica.”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663440" y="1371600"/>
            <a:ext cx="6995160" cy="1783080"/>
          </a:xfrm>
          <a:prstGeom prst="roundRect">
            <a:avLst>
              <a:gd name="adj" fmla="val 4615"/>
            </a:avLst>
          </a:prstGeom>
          <a:solidFill>
            <a:srgbClr val="1E2228"/>
          </a:solidFill>
          <a:ln/>
        </p:spPr>
      </p:sp>
      <p:sp>
        <p:nvSpPr>
          <p:cNvPr id="7" name="Text 4"/>
          <p:cNvSpPr/>
          <p:nvPr/>
        </p:nvSpPr>
        <p:spPr>
          <a:xfrm>
            <a:off x="4892040" y="1536192"/>
            <a:ext cx="6537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CENTRAL</a:t>
            </a:r>
            <a:endParaRPr lang="en-US" sz="12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sub-reagem à informação e tendências persistem por meses. Seguir o movimento — comprado no que sobe, vendido no que cai — captura um prêmio documentado em 58 mercados e um século de dados (Moskowitz et al. 2012; Hurst et al. 2017).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3383280"/>
            <a:ext cx="6995160" cy="1600200"/>
          </a:xfrm>
          <a:prstGeom prst="roundRect">
            <a:avLst>
              <a:gd name="adj" fmla="val 5143"/>
            </a:avLst>
          </a:prstGeom>
          <a:solidFill>
            <a:srgbClr val="1E2228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3547872"/>
            <a:ext cx="6537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INEFICIÊNCIA EXISTE — E PERSISTE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Sub-reação: preços incorporam notícias aos poucos (ancoragem).  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Manada: fluxos seguem retornos e amplificam o movimento.  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à arbitragem: quem aposta contra a tendência sangra antes de ter razão.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5230368"/>
            <a:ext cx="6995160" cy="1170432"/>
          </a:xfrm>
          <a:prstGeom prst="roundRect">
            <a:avLst>
              <a:gd name="adj" fmla="val 7031"/>
            </a:avLst>
          </a:prstGeom>
          <a:solidFill>
            <a:srgbClr val="1E2228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5376672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“MIYAGI”?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mestre: movimentos simples repetidos com disciplina — e defesa antes do ataque. Sinal mensal simples; controle de risco primeiro.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Diversificação é o motor: 26 candidatos, 8 ativos, 6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EF0F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99032"/>
            <a:ext cx="493776" cy="493776"/>
          </a:xfrm>
          <a:prstGeom prst="ellipse">
            <a:avLst/>
          </a:prstGeom>
          <a:solidFill>
            <a:srgbClr val="C63D2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candidatos em 6 classes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BR e globais, juros, moedas, commodities, cripto — todos líquidos e com dados públicos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063240" y="2130552"/>
            <a:ext cx="256032" cy="219456"/>
          </a:xfrm>
          <a:prstGeom prst="downArrow">
            <a:avLst/>
          </a:prstGeom>
          <a:solidFill>
            <a:srgbClr val="5B677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313432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EF0F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569464"/>
            <a:ext cx="493776" cy="493776"/>
          </a:xfrm>
          <a:prstGeom prst="ellipse">
            <a:avLst/>
          </a:prstGeom>
          <a:solidFill>
            <a:srgbClr val="C63D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9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048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estatístico e de histórico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hierárquico de correlações (corte ρ≈0,65) + mínimo de 15 anos de dados (inclui 2008)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063240" y="3300984"/>
            <a:ext cx="256032" cy="219456"/>
          </a:xfrm>
          <a:prstGeom prst="downArrow">
            <a:avLst/>
          </a:prstGeom>
          <a:solidFill>
            <a:srgbClr val="5B677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483864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EEF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739896"/>
            <a:ext cx="493776" cy="493776"/>
          </a:xfrm>
          <a:prstGeom prst="ellipse">
            <a:avLst/>
          </a:prstGeom>
          <a:solidFill>
            <a:srgbClr val="C63D2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398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ativos ≈ 6,1 apostas independentes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ativo por cluster; correlação média entre eles: 0,04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80060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DF1E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560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∝ taxa de informação × √(nº de apostas independentes)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mesmo sinal, diversificar multiplica o Sharpe: 8 ativos só de ações (ρ médio 0,69) valem 1,4 apostas; os nossos 8, 6,1.</a:t>
            </a:r>
            <a:endParaRPr lang="en-US" sz="1350" dirty="0"/>
          </a:p>
        </p:txBody>
      </p:sp>
      <p:pic>
        <p:nvPicPr>
          <p:cNvPr id="19" name="Image 0" descr="heatmap_universo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51560"/>
            <a:ext cx="5349240" cy="4617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57607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Ibovespa (via BOVA11), S&amp;P 500, Treasuries 7–10a, USD/BRL, EUR/USD, USD/JPY, ouro e commodities. USD/BRL: ρ −36 com o Ibovespa — proteção natural do book local.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Miyagi decide: sinal simples, defesa primeiro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EEF0F2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1417320"/>
            <a:ext cx="17739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</a:t>
            </a:r>
            <a:endParaRPr lang="en-US" sz="1300" dirty="0"/>
          </a:p>
          <a:p>
            <a:pPr indent="0" marL="0">
              <a:buNone/>
            </a:pPr>
            <a:r>
              <a:rPr lang="en-US" sz="113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Preços diários ajustados dos 8 ativos (Yahoo Finance) e CDI oficial (BCB/SGS)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14600" y="2231136"/>
            <a:ext cx="228600" cy="256032"/>
          </a:xfrm>
          <a:prstGeom prst="rightArrow">
            <a:avLst/>
          </a:prstGeom>
          <a:solidFill>
            <a:srgbClr val="5B6770"/>
          </a:solidFill>
          <a:ln/>
        </p:spPr>
      </p:sp>
      <p:sp>
        <p:nvSpPr>
          <p:cNvPr id="6" name="Shape 4"/>
          <p:cNvSpPr/>
          <p:nvPr/>
        </p:nvSpPr>
        <p:spPr>
          <a:xfrm>
            <a:off x="2752344" y="12344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EEF0F2"/>
          </a:solidFill>
          <a:ln/>
        </p:spPr>
      </p:sp>
      <p:sp>
        <p:nvSpPr>
          <p:cNvPr id="7" name="Text 5"/>
          <p:cNvSpPr/>
          <p:nvPr/>
        </p:nvSpPr>
        <p:spPr>
          <a:xfrm>
            <a:off x="2898648" y="1417320"/>
            <a:ext cx="17739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</a:t>
            </a:r>
            <a:endParaRPr lang="en-US" sz="1300" dirty="0"/>
          </a:p>
          <a:p>
            <a:pPr indent="0" marL="0">
              <a:buNone/>
            </a:pPr>
            <a:r>
              <a:rPr lang="en-US" sz="113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acumulado de 12 meses, excluindo o último mês: positivo → comprado; negativo → vendido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9744" y="2231136"/>
            <a:ext cx="228600" cy="256032"/>
          </a:xfrm>
          <a:prstGeom prst="rightArrow">
            <a:avLst/>
          </a:prstGeom>
          <a:solidFill>
            <a:srgbClr val="5B6770"/>
          </a:solidFill>
          <a:ln/>
        </p:spPr>
      </p:sp>
      <p:sp>
        <p:nvSpPr>
          <p:cNvPr id="9" name="Shape 7"/>
          <p:cNvSpPr/>
          <p:nvPr/>
        </p:nvSpPr>
        <p:spPr>
          <a:xfrm>
            <a:off x="5047488" y="12344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EEF0F2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1417320"/>
            <a:ext cx="17739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</a:t>
            </a:r>
            <a:endParaRPr lang="en-US" sz="1300" dirty="0"/>
          </a:p>
          <a:p>
            <a:pPr indent="0" marL="0">
              <a:buNone/>
            </a:pPr>
            <a:r>
              <a:rPr lang="en-US" sz="113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proporcional a 1/volatilidade (janela de 60 dias): cada ativo contribui com risco parecido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04888" y="2231136"/>
            <a:ext cx="228600" cy="256032"/>
          </a:xfrm>
          <a:prstGeom prst="rightArrow">
            <a:avLst/>
          </a:prstGeom>
          <a:solidFill>
            <a:srgbClr val="5B677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42632" y="12344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DF1EF"/>
          </a:solidFill>
          <a:ln/>
        </p:spPr>
      </p:sp>
      <p:sp>
        <p:nvSpPr>
          <p:cNvPr id="13" name="Text 11"/>
          <p:cNvSpPr/>
          <p:nvPr/>
        </p:nvSpPr>
        <p:spPr>
          <a:xfrm>
            <a:off x="7488936" y="1417320"/>
            <a:ext cx="17739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</a:t>
            </a:r>
            <a:endParaRPr lang="en-US" sz="1300" dirty="0"/>
          </a:p>
          <a:p>
            <a:pPr indent="0" marL="0">
              <a:buNone/>
            </a:pPr>
            <a:r>
              <a:rPr lang="en-US" sz="113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escalada para volatilidade alvo de 10% a.a. (alavancagem limitada a 3×)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00032" y="2231136"/>
            <a:ext cx="228600" cy="256032"/>
          </a:xfrm>
          <a:prstGeom prst="rightArrow">
            <a:avLst/>
          </a:prstGeom>
          <a:solidFill>
            <a:srgbClr val="5B6770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7776" y="12344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EEF0F2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1417320"/>
            <a:ext cx="17739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</a:t>
            </a:r>
            <a:endParaRPr lang="en-US" sz="1300" dirty="0"/>
          </a:p>
          <a:p>
            <a:pPr indent="0" marL="0">
              <a:buNone/>
            </a:pPr>
            <a:r>
              <a:rPr lang="en-US" sz="113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Rebalanceamento mensal no fechamento; custo de 0,1% sobre o valor negociado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22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wᵢ ∝ sinal(r 12m→1m) ÷ σᵢ(60d)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× (10% ÷ σ_carteira)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EEF0F2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0233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VIESES, TRÊS DEFESAS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Look-ahead: o sinal do mês usa apenas dados até o mês anterior; os pesos valem a partir do pregão seguinte.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Survivorship: universo fixo, definido ex-ante — nenhum ativo entrou por ter “dado certo”.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Overfitting: zero grid search. Sinal 12-1, vol 60d e alvo de 10% vêm dos papers, não dos nossos resultados.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Simplificação documentada: retornos por série em moeda local, sem conversão do PnL — padrão dos papers de momentum com futuros.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anos, duas crises — sem pânico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a.a.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DD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3D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MIYAGI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−14,5%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Ibovespa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−41,2%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2651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*Sharpe do excesso sobre o CDI; caixa remunerado a CDI (futuros). 2005–2026, custos de 0,1%/trade.</a:t>
            </a:r>
            <a:endParaRPr lang="en-US" sz="1000" dirty="0"/>
          </a:p>
        </p:txBody>
      </p:sp>
      <p:pic>
        <p:nvPicPr>
          <p:cNvPr id="5" name="Image 0" descr="equity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0"/>
            <a:ext cx="5989320" cy="3200400"/>
          </a:xfrm>
          <a:prstGeom prst="rect">
            <a:avLst/>
          </a:prstGeom>
        </p:spPr>
      </p:pic>
      <p:pic>
        <p:nvPicPr>
          <p:cNvPr id="6" name="Image 1" descr="dra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440"/>
            <a:ext cx="4983480" cy="20116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720840" y="105156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EEF0F2"/>
          </a:solidFill>
          <a:ln/>
        </p:spPr>
      </p:sp>
      <p:sp>
        <p:nvSpPr>
          <p:cNvPr id="8" name="Text 3"/>
          <p:cNvSpPr/>
          <p:nvPr/>
        </p:nvSpPr>
        <p:spPr>
          <a:xfrm>
            <a:off x="6949440" y="1207008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CRÍTICA — O QUE OS NÚMEROS ESCONDEM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ano: 2016 (−8,4%). Reversões bruscas de tendência são o calcanhar do momentum — a defesa é a diversificação entre 6 classes.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Transparência: a v1 comparava PnL com caixa a zero contra CDI de 9% a.a. — e “perdia”. Diagnóstico com IA levou à v1.1: margem remunerada a CDI, como na prática.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0,57 na faixa da literatura (0,5–1,0) — muito acima disso seria sinal de erro.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720840" y="57150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duas maiores crises do período, Miyagi ficou no positivo: a perna vendida e o USD/BRL defenderam o book.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como coautora — e os próximos golpes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6035040" cy="896112"/>
          </a:xfrm>
          <a:prstGeom prst="roundRect">
            <a:avLst>
              <a:gd name="adj" fmla="val 8163"/>
            </a:avLst>
          </a:prstGeom>
          <a:solidFill>
            <a:srgbClr val="1E222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161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do universo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executou o funil 26→8: coleta, clustering de correlações, heatmaps. Limitação: sandbox sem acesso a dados de mercado — contornado via navegador.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76272"/>
            <a:ext cx="6035040" cy="896112"/>
          </a:xfrm>
          <a:prstGeom prst="roundRect">
            <a:avLst>
              <a:gd name="adj" fmla="val 8163"/>
            </a:avLst>
          </a:prstGeom>
          <a:solidFill>
            <a:srgbClr val="1E22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942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do backtest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por IA a partir de especificação conjunta; validado com dados sintéticos antes dos reais.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209544"/>
            <a:ext cx="6035040" cy="896112"/>
          </a:xfrm>
          <a:prstGeom prst="roundRect">
            <a:avLst>
              <a:gd name="adj" fmla="val 8163"/>
            </a:avLst>
          </a:prstGeom>
          <a:solidFill>
            <a:srgbClr val="1E22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8269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 de resultados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diagnosticou o Sharpe negativo da v1 como artefato contábil (caixa sem remuneração) e propôs a v1.1 — o uso mais valioso: IA como revisora adversarial.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242816"/>
            <a:ext cx="6035040" cy="896112"/>
          </a:xfrm>
          <a:prstGeom prst="roundRect">
            <a:avLst>
              <a:gd name="adj" fmla="val 8163"/>
            </a:avLst>
          </a:prstGeom>
          <a:solidFill>
            <a:srgbClr val="1E222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3159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do robô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Emblema gerado por código de IA. Log completo de usos e limitações versionado no repositório.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1143000"/>
            <a:ext cx="4892040" cy="2377440"/>
          </a:xfrm>
          <a:prstGeom prst="roundRect">
            <a:avLst>
              <a:gd name="adj" fmla="val 3077"/>
            </a:avLst>
          </a:prstGeom>
          <a:solidFill>
            <a:srgbClr val="1E2228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298448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(ATÉ O RELATÓRIO FINAL)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Robustez: custos 2×, outras janelas de vol, sub-períodos.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horizontes de 1, 3 e 12 meses (média de sinais).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 BTC (fora do core: só 11,7 anos de histórico, sem 2008).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370332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1E222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3858768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6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 PRÁTICA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Implementável hoje com BOVA11, futuros da B3 (dólar, índice) e ETFs líquidos. Giro baixo (mensal), capacidade alta, sem dados proprietários.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544068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C63D2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55595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disciplinado e defensivo. Como o mestre: primeiro aprende a não perder — depois, vence.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5321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conhecidos: correlações sobem em crises agudas; reversões rápidas machucam antes do rebalanceamento mensal.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2026-07-18T17:56:21Z</dcterms:created>
  <dcterms:modified xsi:type="dcterms:W3CDTF">2026-07-18T17:56:21Z</dcterms:modified>
</cp:coreProperties>
</file>